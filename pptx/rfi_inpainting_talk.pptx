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29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RFI is a data-loss problem; we treat it as a reconstruction problem. 'Improving', not 'restoring' — we never claim to recover truth inside RFI.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 max,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Persistent offenders: GNSS 1170–1300 MHz, satcom 1530–1630 MHz. Gaps act as a multiplicative mask in frequency → convolution in delay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horizontal stripes: those are the persistent satellite bands — same channels ruined in every observation. The bursts vary; the bands don't.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pre-calibration: that is where flags are applied and where the archive product sits. Interaction with calibration is untested — stated on the scope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Disarming opener for the ML section: everyone in the room has seen these tools. The one-line pivot: same machinery, but our conditioning is the surrounding data instead of a text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to a minute. The key intuition: the network never learns to produce an image in one shot — it only ever learns 'make this slightly less noisy', which is an easier, well-posed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Pinning is the honesty guarantee: outputs agree exactly with the observation wherever data exists. Only flagged pixels are model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Palette-style conditional DDPM. Conditioning hides RFI pixels — true inpainting; the model never sees the corrupted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 gives pixel-level ground truth: this is where quantitative claims are anchored. Figure panel labels say 'clean' — that means the RFI-free reference, not the CLEAN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Parity framing, not 'beats': continuum imaging averages over frequency, so flagging already does well. The point is in-paint does no harm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result on sim. The 27–33× number is the median over tiles at full source brightness; separation narrows to ~6× at SNR≈3.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the real-data half. Be explicit about the epistemics: no ground truth inside real RFI.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DPSS/GPR write-back corrupts the image because their fills are inconsistent across time; the diffusion fill is coherent per tile. Full comparison lives in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high-delay ratio kills the 'does it hallucinate HI signal' question: the model neither fabricates nor removes power where the data are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Fine-tuning from simulation transfers: real validation error 0.0031 fine-tuned vs 0.0068 trained from scratch. Baselines tuned per hole fraction: DPSS half-width 0.1, ridge 0.1; GPR SE kernel, length-scale 30 channels, noise 0.05.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pressed on the r=0.00 for flagging: zeroed channels contribute nothing, so the correlation is zero by construction — that IS the point: flagging recovers none of the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same fake-hole protocol scored with the comparison method used in published RFI-recovery work (Pagano et al. 2023, MNRAS 520, 5552) — so the numbers are directly comparable to the literature. Amplitude: decisive. Phase: parity with the best classical method, both well below the random-phase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honest scope: validated on one observation, decisive in delay space, parity in the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0"/>
            <a:ext cx="110029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Reconstructing RFI-corrupted MeerKAT visibilities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generative in-painting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347472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diffusion model that fills RFI gaps instead of discarding them —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delay-spectrum fidelity for spectral-line science.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598932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Jacques Malan   ·   MeerKAT L-band   · 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in-painting  ·  MeerKAT L-band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658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82880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7589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Jacques Malan — part-time BSc Honours (Computer Science), University of Pretoria; this project is the research component.</a:t>
            </a:r>
            <a:endParaRPr lang="en-US" sz="150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at EPI-USE Labs, Pretoria.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0399" y="1417320"/>
            <a:ext cx="2916936" cy="4263654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8" name="Image 0" descr="/sessions/beautiful-practical-ptolemy/mnt/rfi-inpainting-research-pipeline/images/demo/jacques_mal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127" y="1527048"/>
            <a:ext cx="2697480" cy="40441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in-painting  ·  MeerKAT L-band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658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82880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flagging discards data and leaves gaps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is unavoidable in L-band — satellites, aviation and GNSS occupy fixed parts of the observing band.</a:t>
            </a:r>
            <a:endParaRPr lang="en-US" sz="145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practice is flagging: corrupted samples are discarded, losing good signal flagged alongside the RFI.</a:t>
            </a:r>
            <a:endParaRPr lang="en-US" sz="145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frequency gaps corrupt the delay / power spectrum used for HI and 21-cm science — missing channels ring across all delays.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47091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fill the gaps, don't discard them.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0" y="1627632"/>
            <a:ext cx="44348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7543800" y="17922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MeerKAT L-band, one baseline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43800" y="2194560"/>
            <a:ext cx="3977640" cy="777240"/>
          </a:xfrm>
          <a:prstGeom prst="rect">
            <a:avLst/>
          </a:prstGeom>
          <a:solidFill>
            <a:srgbClr val="E4EBEA"/>
          </a:solidFill>
          <a:ln w="9525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8046720" y="2194560"/>
            <a:ext cx="320040" cy="777240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8961120" y="2194560"/>
            <a:ext cx="640080" cy="777240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10378440" y="2194560"/>
            <a:ext cx="457200" cy="777240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7498080" y="3026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MHz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652760" y="3026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1650 MHz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43800" y="335584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= flagged RFI: signal discarded, frequency coverage broken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in-painting  ·  MeerKAT L-band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658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82880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RFI actually looks like in MeerKAT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76147" y="1353312"/>
            <a:ext cx="5121189" cy="47000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/sessions/beautiful-practical-ptolemy/mnt/rfi-inpainting-research-pipeline/images/demo/real_rfi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875" y="1463040"/>
            <a:ext cx="4901733" cy="448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60020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baseline tiles from observation 1570802018: observed amplitude spectrograms (left) and what tricolour flags (right).</a:t>
            </a:r>
            <a:endParaRPr lang="en-US" sz="140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bands (GNSS 1170–1300 MHz, satcom 1530–1630 MHz) plus intermittent bursts — typically 10–25% of the band is lost.</a:t>
            </a:r>
            <a:endParaRPr lang="en-US" sz="140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flagged pixel is a hole in frequency coverage. This is the data the model has to fill — no in-painting shown here.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5875" y="6144768"/>
            <a:ext cx="5121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amplitude (left) · tricolour flag mask (right; green = flagged).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in-painting  ·  MeerKAT L-band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658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82880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in-painting sits in the processing chain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5732" y="1920240"/>
            <a:ext cx="1965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668884" y="1920240"/>
            <a:ext cx="18196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(L0 MS)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34260" y="1920240"/>
            <a:ext cx="347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54300" y="1920240"/>
            <a:ext cx="1965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2927452" y="1920240"/>
            <a:ext cx="18196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flagging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(tricolour)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92828" y="1920240"/>
            <a:ext cx="347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12868" y="1920240"/>
            <a:ext cx="1965960" cy="1051560"/>
          </a:xfrm>
          <a:prstGeom prst="rect">
            <a:avLst/>
          </a:prstGeom>
          <a:solidFill>
            <a:srgbClr val="15595E"/>
          </a:solidFill>
          <a:ln w="12700">
            <a:solidFill>
              <a:srgbClr val="15595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186020" y="1920240"/>
            <a:ext cx="18196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In-painting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work)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51396" y="1920240"/>
            <a:ext cx="347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71436" y="1920240"/>
            <a:ext cx="1965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7444588" y="1920240"/>
            <a:ext cx="18196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(1GC / 2GC)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09964" y="1920240"/>
            <a:ext cx="347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30004" y="1920240"/>
            <a:ext cx="1965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9703156" y="1920240"/>
            <a:ext cx="18196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analysis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3749040"/>
            <a:ext cx="110029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pre-calibration, on uncalibrated L0 visibilities — everything downstream sees a gap-free band.</a:t>
            </a:r>
            <a:endParaRPr lang="en-US" sz="140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step: it uses the observatory's standard tricolour flags and fills exactly what the flagger flags.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in-painting  ·  MeerKAT L-band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658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82880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— DIFFUSION MODELS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diffusion models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4572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 </a:t>
            </a:r>
            <a:r>
              <a:rPr lang="en-US" sz="14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astronaut walking on the Moon”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210312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999537" y="1188720"/>
            <a:ext cx="3597798" cy="47000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0" name="Image 0" descr="/sessions/beautiful-practical-ptolemy/mnt/rfi-inpainting-research-pipeline/images/demo/moon_astronau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9265" y="1298448"/>
            <a:ext cx="3378342" cy="44805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397764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Diffusion, DALL·E, Midjourney — all diffusion models: they turn random noise into an image, step by step.</a:t>
            </a:r>
            <a:endParaRPr lang="en-US" sz="135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are text-to-image: the text prompt steers the denoising.</a:t>
            </a:r>
            <a:endParaRPr lang="en-US" sz="135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 image-to-image form: the surviving data around each gap is the “prompt” that steers what gets generated.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999537" y="5961888"/>
            <a:ext cx="35977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diffusion-model output (prompt paraphrased).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in-painting  ·  MeerKAT L-band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658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82880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— DIFFUSION MODELS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one-minute primer on diffusion models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74040" y="1627632"/>
            <a:ext cx="10643616" cy="2945439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/sessions/beautiful-practical-ptolemy/mnt/rfi-inpainting-research-pipeline/images/demo/diffusion_pro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8" y="1737360"/>
            <a:ext cx="10424160" cy="27259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4800600"/>
            <a:ext cx="110029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add noise to data step by step, and teach a network to undo one step at a time.</a:t>
            </a:r>
            <a:endParaRPr lang="en-US" sz="1350" dirty="0"/>
          </a:p>
          <a:p>
            <a:pPr marL="177800" indent="-177800" algn="l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Generation: start from pure noise and apply the learned denoising repeatedly — a sample of realistic data emerges.</a:t>
            </a:r>
            <a:endParaRPr lang="en-US" sz="1350" dirty="0"/>
          </a:p>
          <a:p>
            <a:pPr marL="177800" indent="-177800" algn="l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class as modern image generators — here it generates radio spectrograms instead of pictures.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in-painting  ·  MeerKAT L-band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658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82880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— DIFFUSION MODELS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In-painting = diffusion with the known pixels pinned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74040" y="1581912"/>
            <a:ext cx="10643616" cy="3106235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/sessions/beautiful-practical-ptolemy/mnt/rfi-inpainting-research-pipeline/images/demo/diffusion_inp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8" y="1691640"/>
            <a:ext cx="10424160" cy="288677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4846320"/>
            <a:ext cx="110029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flagged holes start as pure noise and are denoised step by step, guided by the surrounding data.</a:t>
            </a:r>
            <a:endParaRPr lang="en-US" sz="1350" dirty="0"/>
          </a:p>
          <a:p>
            <a:pPr marL="177800" indent="-177800" algn="l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pixels are pinned to their observed values at every step — the model cannot alter data it was given.</a:t>
            </a:r>
            <a:endParaRPr lang="en-US" sz="1350" dirty="0"/>
          </a:p>
          <a:p>
            <a:pPr marL="177800" indent="-177800" algn="l">
              <a:lnSpc>
                <a:spcPct val="1080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deterministic sampling (DDIM): the best single estimate of the missing data, not one random plausible fill.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in-painting  ·  MeerKAT L-band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658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82880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trained: supervised on simulation, then real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0304" y="1463040"/>
            <a:ext cx="19933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95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673456" y="14630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RFI-free visibilities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66264" y="146304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49728" y="1463040"/>
            <a:ext cx="19933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95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2922880" y="14630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thermal noise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15688" y="146304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99152" y="1463040"/>
            <a:ext cx="19933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95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172304" y="14630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synthetic RFI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65112" y="146304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48576" y="1463040"/>
            <a:ext cx="19933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95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7421728" y="14630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+ phase spectrograms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14536" y="146304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598000" y="1463040"/>
            <a:ext cx="19933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95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9671152" y="14630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to reconstruct hidden pixels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48679" y="2907792"/>
            <a:ext cx="5248656" cy="3140013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1" name="Image 0" descr="/sessions/beautiful-practical-ptolemy/mnt/rfi-inpainting-research-pipeline/images/demo/sim_training_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407" y="3017520"/>
            <a:ext cx="5029200" cy="292055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94360" y="310896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pairs: the model sees the corrupted spectrogram and the flag mask,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learns to reconstruct only the hidden (flagged) pixels.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94360" y="41605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diffusion model from the previous slides, conditioned on the surviving pixels.</a:t>
            </a:r>
            <a:endParaRPr lang="en-US" sz="135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per baseline; the model only fills flagged pixels, so it inherits the flagger's recall.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in-painting  ·  MeerKAT L-band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658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82880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— KNOWN TRUTH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in simulation, where the truth is known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55368" y="1207008"/>
            <a:ext cx="7680960" cy="476046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/sessions/beautiful-practical-ptolemy/mnt/rfi-inpainting-research-pipeline/images/demo/sim_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808" y="1298448"/>
            <a:ext cx="7498080" cy="45775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598932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to right: RFI-free truth, corrupted input + mask, model prediction, error map, true vs predicted phase.</a:t>
            </a:r>
            <a:endParaRPr lang="en-US" sz="1300" dirty="0"/>
          </a:p>
          <a:p>
            <a:pPr marL="177800" indent="-177800" algn="l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amplitude and phase — cos/sin phase channels are renormalised to a valid phasor.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in-painting  ·  MeerKAT L-band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658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82880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— KNOWN TRUTH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continuum image: on par with flagging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307592"/>
            <a:ext cx="11002975" cy="2785739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/sessions/beautiful-practical-ptolemy/mnt/rfi-inpainting-research-pipeline/images/demo/sim_continu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417320"/>
            <a:ext cx="10783519" cy="25662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4526280"/>
            <a:ext cx="11002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In-painting recovers the uncorrupted image: dynamic range ~37.5k vs ~40k for the RFI-free reference — on par with flagging.</a:t>
            </a:r>
            <a:endParaRPr lang="en-US" sz="145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mean-fill collapses the image to ~4.3k dynamic range: what you fill with matters.</a:t>
            </a:r>
            <a:endParaRPr lang="en-US" sz="145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imaging is robust to gaps, so parity is the expected — and achieved — result here.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in-painting  ·  MeerKAT L-band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658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82880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— KNOWN TRUTH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delay spectrum: this is where flagging hurts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646158" y="1399032"/>
            <a:ext cx="6951177" cy="437997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/sessions/beautiful-practical-ptolemy/mnt/rfi-inpainting-research-pipeline/images/demo/sim_de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886" y="1508760"/>
            <a:ext cx="6731721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600200"/>
            <a:ext cx="3977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In-painting tracks the true RFI-free spectrum; flagging raises a spurious noise floor across delays.</a:t>
            </a:r>
            <a:endParaRPr lang="en-US" sz="130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DPSS — band-limited by construction — clips real spectral structure.</a:t>
            </a:r>
            <a:endParaRPr lang="en-US" sz="130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ablations, in-paint ≥ flagging at every SNR (90→3) and RFI fraction (15–60%); delay-space error 27–33× below flagging at full brightness (median over tiles, 95% CI shown).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in-painting  ·  MeerKAT L-band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658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82880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REAL MEERKAT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transfer to real MeerKAT data?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4902" y="1353312"/>
            <a:ext cx="5382433" cy="41970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/sessions/beautiful-practical-ptolemy/mnt/rfi-inpainting-research-pipeline/images/demo/real_inpaint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30" y="1463040"/>
            <a:ext cx="5162977" cy="3977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6002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MeerKAT L-band observation 1570802018 (J2018-5539), operational tricolour flags.</a:t>
            </a:r>
            <a:endParaRPr lang="en-US" sz="140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RFI has no uncorrupted truth, so we do two things: show the effect directly (next slides) and validate on hidden known-good pixels (the fake-hole test).</a:t>
            </a:r>
            <a:endParaRPr lang="en-US" sz="140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fine-tuned on real data with fake holes, then applied frozen.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24630" y="5641848"/>
            <a:ext cx="51629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the model filling flagged regions of a real baseline — amplitude and phase.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in-painting  ·  MeerKAT L-band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658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82880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MEERKAT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continuum image: on par with flagging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126849" y="1307592"/>
            <a:ext cx="7937998" cy="4014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/sessions/beautiful-practical-ptolemy/mnt/rfi-inpainting-research-pipeline/images/demo/real_continuum_flag_vs_inp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577" y="1417320"/>
            <a:ext cx="7718542" cy="3794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548640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source structure, comparable noise, no artefacts introduced — flagging baseline is the observatory's operational tricolour flags.</a:t>
            </a:r>
            <a:endParaRPr lang="en-US" sz="1300" dirty="0"/>
          </a:p>
          <a:p>
            <a:pPr marL="177800" indent="-177800" algn="l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fills (DPSS, GPR) visibly corrupt the image.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6199632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Off-source RMS is a noise diagnostic, not a correctness score — there is no truth on real data.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in-painting  ·  MeerKAT L-band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658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82880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MEERKAT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delay spectrum, actual RFI: gaps removed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330678" y="1399032"/>
            <a:ext cx="6266658" cy="39684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/sessions/beautiful-practical-ptolemy/mnt/rfi-inpainting-research-pipeline/images/demo/real_delay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406" y="1508760"/>
            <a:ext cx="6047202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60020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zeroes the RFI channels and discards signal — the delay peak drops ~3.5×; in-painting restores it.</a:t>
            </a:r>
            <a:endParaRPr lang="en-US" sz="140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signal: in-paint adds essentially no power in empty high-delay bins — high-delay power ratio ≈ 1.00.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48920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uncorrupted truth on real RFI — accuracy is validated on the next slides.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in-painting  ·  MeerKAT L-band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658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82880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GROUND TRUTH ON REAL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actually recover the data? (fake-hole test, with ground truth)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hide known-good real pixels (band-shaped, like real RFI), reconstruct, and compare to the hidden truth — the one real-data test with an answer key.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68519" y="1856232"/>
            <a:ext cx="6528816" cy="3345997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8" name="Image 0" descr="/sessions/beautiful-practical-ptolemy/mnt/rfi-inpainting-research-pipeline/images/demo/real_recovery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247" y="1965960"/>
            <a:ext cx="6309360" cy="312654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05740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In-painting recovers amplitude 2.8–3.9× more accurately than any classical method: mean error 0.29 vs 0.79 (DPSS), 1.12 (GPR), 1.00 (zero-fill / flagging).</a:t>
            </a:r>
            <a:endParaRPr lang="en-US" sz="130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error ~2× lower: 0.75 rad vs 1.13–1.44.</a:t>
            </a:r>
            <a:endParaRPr lang="en-US" sz="130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= zero-fill is the floor; every faithful fill beats it, and the diffusion model beats the classical fills too.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566928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flagging (10–25%), 400 baseline-tiles, real MeerKAT observation. Masked-region metric (hole pixels only) — standard inpainting evaluation.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in-painting  ·  MeerKAT L-band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658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82880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STRUCTURE RECOVERY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real structure, not just smooth filler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Cross-correlation r(τ) measures how much of the true structure each method recovers, independent of amplitude — the standard 21-cm/EoR reconstruction metric.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34279" y="1764792"/>
            <a:ext cx="6163056" cy="3719809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8" name="Image 0" descr="/sessions/beautiful-practical-ptolemy/mnt/rfi-inpainting-research-pipeline/images/demo/real_cross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007" y="1874520"/>
            <a:ext cx="5943600" cy="350035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0116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In-paint recovers r = 0.96 of the true structure at the foreground peak, vs 0.73 (DPSS), 0.42 (GPR), 0.00 (flagging).</a:t>
            </a:r>
            <a:endParaRPr lang="en-US" sz="130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fills are smooth by construction — they blur out fine spectral structure and decorrelate; flagging recovers nothing (zeros).</a:t>
            </a:r>
            <a:endParaRPr lang="en-US" sz="130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a generative model earns its keep: reproducing detail that band-limited / smooth methods cannot.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553212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advantage is reconstruction fidelity at typical flagging levels. At extreme flagging (&gt;~40% of the band) classical smooth fills become competitive — a genuine information limit, not a shortcoming of the metric.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6053328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r(τ) = Re[δ*_true·δ_rec] / √(P_true·P_rec) per delay bin.  Refs: HERA arXiv:2411.10529; cross-correlation arXiv:2508.13265; Pagano MNRAS 520, 5552.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in-painting  ·  MeerKAT L-band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658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82880"/>
            <a:ext cx="11002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PUBLISHED BENCHMARK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with a published method (Pagano et al. 2023)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07899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Per-visibility amplitude and phase error over known-good pixels — full baseline set, 400 tiles, narrowband and wideband RFI shapes. In-paint halves the amplitude error of the best classical fill (0.28 / 0.23 vs 0.53 / 0.35) and edges it on phase (0.68 / 0.51 vs 0.70 / 0.52).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76960" y="1856232"/>
            <a:ext cx="9637776" cy="4252998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8" name="Image 0" descr="/sessions/beautiful-practical-ptolemy/mnt/rfi-inpainting-research-pipeline/images/demo/pagano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688" y="1965960"/>
            <a:ext cx="9418320" cy="40335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612648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‘CLEAN’ here is the deconvolution-style gap-fill method from the benchmark — not the wsclean imaging algorithm. Flagged = zero-fill baseline; dashed line = random-phase level.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3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8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in-painting  ·  MeerKAT L-band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658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8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and 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F2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diffusion model reconstructs RFI-corrupted MeerKAT visibilities — amplitude and phase.</a:t>
            </a:r>
            <a:endParaRPr lang="en-US" sz="140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F2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 data: on par with flagging in the continuum image, and removes the spectral gaps that corrupt the delay spectrum — beating classical fills (DPSS, GPR).</a:t>
            </a:r>
            <a:endParaRPr lang="en-US" sz="140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F2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gains where gaps matter most: the delay / power spectrum, i.e. the spectral-line and 21-cm regime.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2084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720840" y="196596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F2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Multi-observation generalisation — does one model serve many fields and epochs?</a:t>
            </a:r>
            <a:endParaRPr lang="en-US" sz="140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F2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cost at survey scale.</a:t>
            </a:r>
            <a:endParaRPr lang="en-US" sz="1400" dirty="0"/>
          </a:p>
          <a:p>
            <a:pPr marL="177800" indent="-1778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F2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other machine-learning in-painters.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2301</Words>
  <Application>Microsoft Office PowerPoint</Application>
  <PresentationFormat>Widescreen</PresentationFormat>
  <Paragraphs>208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Jacques Malan</cp:lastModifiedBy>
  <cp:revision>1</cp:revision>
  <dcterms:created xsi:type="dcterms:W3CDTF">2026-07-27T18:38:11Z</dcterms:created>
  <dcterms:modified xsi:type="dcterms:W3CDTF">2026-07-27T18:43:07Z</dcterms:modified>
</cp:coreProperties>
</file>